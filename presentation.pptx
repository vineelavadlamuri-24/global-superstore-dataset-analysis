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302" r:id="rId3"/>
    <p:sldId id="273" r:id="rId4"/>
    <p:sldId id="274" r:id="rId5"/>
    <p:sldId id="303" r:id="rId6"/>
    <p:sldId id="304"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0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D3EC"/>
    <a:srgbClr val="DFDDDD"/>
    <a:srgbClr val="C8B2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2" autoAdjust="0"/>
    <p:restoredTop sz="94660"/>
  </p:normalViewPr>
  <p:slideViewPr>
    <p:cSldViewPr snapToGrid="0" showGuides="1">
      <p:cViewPr varScale="1">
        <p:scale>
          <a:sx n="64" d="100"/>
          <a:sy n="64" d="100"/>
        </p:scale>
        <p:origin x="900" y="72"/>
      </p:cViewPr>
      <p:guideLst>
        <p:guide pos="3840"/>
        <p:guide orient="horz" pos="20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diagrams/_rels/data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43826E-F2CA-4FED-96CD-A602B4284607}"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IN"/>
        </a:p>
      </dgm:t>
    </dgm:pt>
    <dgm:pt modelId="{C9DF6339-CCE8-4CF6-8784-30DC3EECA9B9}">
      <dgm:prSet/>
      <dgm:spPr/>
      <dgm:t>
        <a:bodyPr/>
        <a:lstStyle/>
        <a:p>
          <a:r>
            <a:rPr lang="en-US" dirty="0"/>
            <a:t>Global superstore   dataset</a:t>
          </a:r>
          <a:endParaRPr lang="en-IN" dirty="0"/>
        </a:p>
      </dgm:t>
    </dgm:pt>
    <dgm:pt modelId="{18AE8B9C-2061-42FC-A562-046B73DE7099}" type="parTrans" cxnId="{E6BDC8A1-8187-4564-A2A3-F85C9DACD8B5}">
      <dgm:prSet/>
      <dgm:spPr/>
      <dgm:t>
        <a:bodyPr/>
        <a:lstStyle/>
        <a:p>
          <a:endParaRPr lang="en-IN"/>
        </a:p>
      </dgm:t>
    </dgm:pt>
    <dgm:pt modelId="{A78FA126-A6CF-4416-8E16-A5AEE39BB2BD}" type="sibTrans" cxnId="{E6BDC8A1-8187-4564-A2A3-F85C9DACD8B5}">
      <dgm:prSet/>
      <dgm:spPr/>
      <dgm:t>
        <a:bodyPr/>
        <a:lstStyle/>
        <a:p>
          <a:endParaRPr lang="en-IN"/>
        </a:p>
      </dgm:t>
    </dgm:pt>
    <dgm:pt modelId="{A7455ACC-B598-4458-A354-002887D58C2F}" type="pres">
      <dgm:prSet presAssocID="{0043826E-F2CA-4FED-96CD-A602B4284607}" presName="linearFlow" presStyleCnt="0">
        <dgm:presLayoutVars>
          <dgm:dir/>
          <dgm:resizeHandles val="exact"/>
        </dgm:presLayoutVars>
      </dgm:prSet>
      <dgm:spPr/>
    </dgm:pt>
    <dgm:pt modelId="{DAC9DF94-D6FC-47B6-BB6D-F7E3D95F593D}" type="pres">
      <dgm:prSet presAssocID="{C9DF6339-CCE8-4CF6-8784-30DC3EECA9B9}" presName="composite" presStyleCnt="0"/>
      <dgm:spPr/>
    </dgm:pt>
    <dgm:pt modelId="{EBF397A3-11D6-44EB-80F7-92389F577077}" type="pres">
      <dgm:prSet presAssocID="{C9DF6339-CCE8-4CF6-8784-30DC3EECA9B9}" presName="imgShp"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58977C13-51E7-43F6-81CC-E6920F365400}" type="pres">
      <dgm:prSet presAssocID="{C9DF6339-CCE8-4CF6-8784-30DC3EECA9B9}" presName="txShp" presStyleLbl="node1" presStyleIdx="0" presStyleCnt="1">
        <dgm:presLayoutVars>
          <dgm:bulletEnabled val="1"/>
        </dgm:presLayoutVars>
      </dgm:prSet>
      <dgm:spPr/>
    </dgm:pt>
  </dgm:ptLst>
  <dgm:cxnLst>
    <dgm:cxn modelId="{3AC4B21B-B00C-41F0-9B77-5131C7D0EE5E}" type="presOf" srcId="{C9DF6339-CCE8-4CF6-8784-30DC3EECA9B9}" destId="{58977C13-51E7-43F6-81CC-E6920F365400}" srcOrd="0" destOrd="0" presId="urn:microsoft.com/office/officeart/2005/8/layout/vList3"/>
    <dgm:cxn modelId="{81C0DD41-F746-49C4-BBDD-43B9A441FBC2}" type="presOf" srcId="{0043826E-F2CA-4FED-96CD-A602B4284607}" destId="{A7455ACC-B598-4458-A354-002887D58C2F}" srcOrd="0" destOrd="0" presId="urn:microsoft.com/office/officeart/2005/8/layout/vList3"/>
    <dgm:cxn modelId="{E6BDC8A1-8187-4564-A2A3-F85C9DACD8B5}" srcId="{0043826E-F2CA-4FED-96CD-A602B4284607}" destId="{C9DF6339-CCE8-4CF6-8784-30DC3EECA9B9}" srcOrd="0" destOrd="0" parTransId="{18AE8B9C-2061-42FC-A562-046B73DE7099}" sibTransId="{A78FA126-A6CF-4416-8E16-A5AEE39BB2BD}"/>
    <dgm:cxn modelId="{9AD40077-4106-4978-B036-88D4AB01DF5A}" type="presParOf" srcId="{A7455ACC-B598-4458-A354-002887D58C2F}" destId="{DAC9DF94-D6FC-47B6-BB6D-F7E3D95F593D}" srcOrd="0" destOrd="0" presId="urn:microsoft.com/office/officeart/2005/8/layout/vList3"/>
    <dgm:cxn modelId="{767BFE0C-2B78-404C-838B-031C76C6295C}" type="presParOf" srcId="{DAC9DF94-D6FC-47B6-BB6D-F7E3D95F593D}" destId="{EBF397A3-11D6-44EB-80F7-92389F577077}" srcOrd="0" destOrd="0" presId="urn:microsoft.com/office/officeart/2005/8/layout/vList3"/>
    <dgm:cxn modelId="{D6C11AE4-E920-48FB-99AA-60E317237D13}" type="presParOf" srcId="{DAC9DF94-D6FC-47B6-BB6D-F7E3D95F593D}" destId="{58977C13-51E7-43F6-81CC-E6920F365400}"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77C13-51E7-43F6-81CC-E6920F365400}">
      <dsp:nvSpPr>
        <dsp:cNvPr id="0" name=""/>
        <dsp:cNvSpPr/>
      </dsp:nvSpPr>
      <dsp:spPr>
        <a:xfrm rot="10800000">
          <a:off x="1791282" y="0"/>
          <a:ext cx="4807809" cy="2321170"/>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571" tIns="175260" rIns="327152" bIns="175260" numCol="1" spcCol="1270" anchor="ctr" anchorCtr="0">
          <a:noAutofit/>
        </a:bodyPr>
        <a:lstStyle/>
        <a:p>
          <a:pPr marL="0" lvl="0" indent="0" algn="ctr" defTabSz="2044700">
            <a:lnSpc>
              <a:spcPct val="90000"/>
            </a:lnSpc>
            <a:spcBef>
              <a:spcPct val="0"/>
            </a:spcBef>
            <a:spcAft>
              <a:spcPct val="35000"/>
            </a:spcAft>
            <a:buNone/>
          </a:pPr>
          <a:r>
            <a:rPr lang="en-US" sz="4600" kern="1200" dirty="0"/>
            <a:t>Global superstore   dataset</a:t>
          </a:r>
          <a:endParaRPr lang="en-IN" sz="4600" kern="1200" dirty="0"/>
        </a:p>
      </dsp:txBody>
      <dsp:txXfrm rot="10800000">
        <a:off x="2371574" y="0"/>
        <a:ext cx="4227517" cy="2321170"/>
      </dsp:txXfrm>
    </dsp:sp>
    <dsp:sp modelId="{EBF397A3-11D6-44EB-80F7-92389F577077}">
      <dsp:nvSpPr>
        <dsp:cNvPr id="0" name=""/>
        <dsp:cNvSpPr/>
      </dsp:nvSpPr>
      <dsp:spPr>
        <a:xfrm>
          <a:off x="630697" y="0"/>
          <a:ext cx="2321170" cy="232117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644F8D-7351-412E-BA1B-47674AFF5A26}"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4A065-5E5C-4575-80F4-AAFB580EE5FB}" type="slidenum">
              <a:rPr lang="en-US" smtClean="0"/>
              <a:t>‹#›</a:t>
            </a:fld>
            <a:endParaRPr lang="en-US"/>
          </a:p>
        </p:txBody>
      </p:sp>
    </p:spTree>
    <p:extLst>
      <p:ext uri="{BB962C8B-B14F-4D97-AF65-F5344CB8AC3E}">
        <p14:creationId xmlns:p14="http://schemas.microsoft.com/office/powerpoint/2010/main" val="1004720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unsplash.com/@johannekristensen?utm_source=unsplash&amp;utm_medium=referral&amp;utm_content=creditCopyText"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unsplash.com/@laurachouette?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by </a:t>
            </a:r>
            <a:r>
              <a:rPr lang="en-US" dirty="0">
                <a:hlinkClick r:id="rId3"/>
              </a:rPr>
              <a:t>Johanne Kristensen</a:t>
            </a:r>
            <a:r>
              <a:rPr lang="en-US" dirty="0"/>
              <a:t> on </a:t>
            </a:r>
            <a:r>
              <a:rPr lang="en-US" dirty="0" err="1">
                <a:hlinkClick r:id="rId4"/>
              </a:rPr>
              <a:t>Unsplash</a:t>
            </a:r>
            <a:endParaRPr lang="en-US" dirty="0"/>
          </a:p>
          <a:p>
            <a:r>
              <a:rPr lang="en-US" dirty="0"/>
              <a:t>Photo by </a:t>
            </a:r>
            <a:r>
              <a:rPr lang="en-US" dirty="0">
                <a:hlinkClick r:id="rId5"/>
              </a:rPr>
              <a:t>Laura Chouette</a:t>
            </a:r>
            <a:r>
              <a:rPr lang="en-US" dirty="0"/>
              <a:t> on </a:t>
            </a:r>
            <a:r>
              <a:rPr lang="en-US" dirty="0" err="1">
                <a:hlinkClick r:id="rId4"/>
              </a:rPr>
              <a:t>Unsplash</a:t>
            </a:r>
            <a:endParaRPr lang="en-US" dirty="0"/>
          </a:p>
        </p:txBody>
      </p:sp>
      <p:sp>
        <p:nvSpPr>
          <p:cNvPr id="4" name="Slide Number Placeholder 3"/>
          <p:cNvSpPr>
            <a:spLocks noGrp="1"/>
          </p:cNvSpPr>
          <p:nvPr>
            <p:ph type="sldNum" sz="quarter" idx="5"/>
          </p:nvPr>
        </p:nvSpPr>
        <p:spPr/>
        <p:txBody>
          <a:bodyPr/>
          <a:lstStyle/>
          <a:p>
            <a:fld id="{8634A065-5E5C-4575-80F4-AAFB580EE5FB}" type="slidenum">
              <a:rPr lang="en-US" smtClean="0"/>
              <a:t>1</a:t>
            </a:fld>
            <a:endParaRPr lang="en-US"/>
          </a:p>
        </p:txBody>
      </p:sp>
    </p:spTree>
    <p:extLst>
      <p:ext uri="{BB962C8B-B14F-4D97-AF65-F5344CB8AC3E}">
        <p14:creationId xmlns:p14="http://schemas.microsoft.com/office/powerpoint/2010/main" val="3573231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446D3C-7248-4466-83D3-3CA300DE77F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8448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E8EE67-7A75-494E-98A3-D8E57C5B2C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1992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878B7-40A9-4BA1-8665-0339A7D0A6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0AD308-1653-4640-A584-5196128AD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5BC23E-B578-4F6D-9EDE-54B0ED86E53D}"/>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54F2C8AA-0588-4C84-B16E-74FAF89B55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E865B-1D52-4F00-9196-E33C13B74692}"/>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4122846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E343-74BD-41A4-BD4D-48724138F6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9C7769-C2BC-4A67-9D35-81ED228023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87B10-327C-4D3A-A54F-A6B313B5DA68}"/>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D789B7E9-6C6D-4CBB-8774-F965EAA9A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872C59-5564-40C3-A9F2-F5F325E2DA3D}"/>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473285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6A79-58FE-4F90-8C27-AB01AE7649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F03264-3943-4754-806A-8BB412C131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BF26A6-06B9-4DD6-B90E-1D648582BA5E}"/>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583AA32B-D901-46B6-9D36-8FA754EE3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F16944-4B67-4A79-A4E6-B1FDBA41CFDF}"/>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93381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964D-453A-4156-BBA0-2C4B47C79D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2B33BD-02B3-41D7-ACE8-408104D1CA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6D80FD-5D71-49BC-BDA9-6FE2558FA7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E70943-58E8-4619-97B6-D6CFCFB491A2}"/>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6" name="Footer Placeholder 5">
            <a:extLst>
              <a:ext uri="{FF2B5EF4-FFF2-40B4-BE49-F238E27FC236}">
                <a16:creationId xmlns:a16="http://schemas.microsoft.com/office/drawing/2014/main" id="{D9919DC1-899B-481F-B8C1-01E78A31D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5CF9D-736D-4314-BDC7-27FF590DF078}"/>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4251601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25EA-A323-41F2-AFFB-4BBFA8CFAB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395E9D-5576-4FD0-BA23-8BC996D4F8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9984F-4D3D-4C01-9220-83520B3332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DBD4FB-AE4B-4FD3-B9F1-B6F966529A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6F3397-7801-475F-9F30-68D7A691AD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1FE7B38-E9FD-487E-A95C-BA36DDFF2302}"/>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8" name="Footer Placeholder 7">
            <a:extLst>
              <a:ext uri="{FF2B5EF4-FFF2-40B4-BE49-F238E27FC236}">
                <a16:creationId xmlns:a16="http://schemas.microsoft.com/office/drawing/2014/main" id="{48FBC180-C88F-425F-B309-E960C93B7C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339FB7D-70E1-43E3-BFF9-6D8B0011832A}"/>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2887708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126F0-F142-4A9C-AB32-49F99EBFC4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F08820-8B2C-4EC5-8AD0-DEFFF98EB9CA}"/>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4" name="Footer Placeholder 3">
            <a:extLst>
              <a:ext uri="{FF2B5EF4-FFF2-40B4-BE49-F238E27FC236}">
                <a16:creationId xmlns:a16="http://schemas.microsoft.com/office/drawing/2014/main" id="{6E631A2F-F8FD-4866-9C46-67BA9F9B578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ADA0ED-D981-4998-82AE-05A4B5152279}"/>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523297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07D318-A37C-42B4-9AD6-97B28F9E0155}"/>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3" name="Footer Placeholder 2">
            <a:extLst>
              <a:ext uri="{FF2B5EF4-FFF2-40B4-BE49-F238E27FC236}">
                <a16:creationId xmlns:a16="http://schemas.microsoft.com/office/drawing/2014/main" id="{D4FED262-8D95-4025-889E-1F72497C43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C12B889-B9CB-4E59-9257-31E3CEC349A8}"/>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267491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FEA8B-2EF5-4C61-B706-F0878DDCF3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21A11B-EA94-4908-A823-CF563CF6F5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99F68A-FDCF-4E63-9276-D334B8F0F6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26C193-21DF-4571-9F20-6505EE986294}"/>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6" name="Footer Placeholder 5">
            <a:extLst>
              <a:ext uri="{FF2B5EF4-FFF2-40B4-BE49-F238E27FC236}">
                <a16:creationId xmlns:a16="http://schemas.microsoft.com/office/drawing/2014/main" id="{E1EB6686-B8AE-4C41-9E8C-FC24AB6D4E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2289CB-CEBF-492F-B25D-7918922B2C27}"/>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243580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CB26-C7EC-4DAC-AEC8-69F1B84606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1B64CA-8DA0-457C-9A3D-D077531F53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2D82AF-E44D-4657-92A0-D5731CFAC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A96FDA-B274-4224-B668-878F318AF4DE}"/>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6" name="Footer Placeholder 5">
            <a:extLst>
              <a:ext uri="{FF2B5EF4-FFF2-40B4-BE49-F238E27FC236}">
                <a16:creationId xmlns:a16="http://schemas.microsoft.com/office/drawing/2014/main" id="{A9BF968C-3329-47A0-AE96-84FE74F033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6DAA27-8A0E-4CE4-8164-6EE2E06B02D2}"/>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380855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34E8-C440-488C-AB93-D700057DB9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DBAF66-E58F-452E-BF71-BCF2BF8D46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E4FD5A-EE11-494B-B66F-6CDF19BE39A0}"/>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F10B277F-775D-4899-902B-F83B684BF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B97E79-77A5-4E66-9E05-275B04DCC0E1}"/>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185954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E5E1A4-8CD9-4CAF-9B6D-5D9B4EABB7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63751D-5AE5-48A5-A779-010C27AAD9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24D780-DB4C-4CBF-833E-EDEE2456EE13}"/>
              </a:ext>
            </a:extLst>
          </p:cNvPr>
          <p:cNvSpPr>
            <a:spLocks noGrp="1"/>
          </p:cNvSpPr>
          <p:nvPr>
            <p:ph type="dt" sz="half" idx="10"/>
          </p:nvPr>
        </p:nvSpPr>
        <p:spPr/>
        <p:txBody>
          <a:body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915A9F19-9243-4AD8-AC52-4CA3298D1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F2A7E-6CCF-4179-B51D-166290C9EFA7}"/>
              </a:ext>
            </a:extLst>
          </p:cNvPr>
          <p:cNvSpPr>
            <a:spLocks noGrp="1"/>
          </p:cNvSpPr>
          <p:nvPr>
            <p:ph type="sldNum" sz="quarter" idx="12"/>
          </p:nvPr>
        </p:nvSpPr>
        <p:spPr/>
        <p:txBody>
          <a:bodyPr/>
          <a:lstStyle/>
          <a:p>
            <a:fld id="{D193D874-5C84-4719-83B1-FE3512B1498D}" type="slidenum">
              <a:rPr lang="en-US" smtClean="0"/>
              <a:t>‹#›</a:t>
            </a:fld>
            <a:endParaRPr lang="en-US"/>
          </a:p>
        </p:txBody>
      </p:sp>
    </p:spTree>
    <p:extLst>
      <p:ext uri="{BB962C8B-B14F-4D97-AF65-F5344CB8AC3E}">
        <p14:creationId xmlns:p14="http://schemas.microsoft.com/office/powerpoint/2010/main" val="1438665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4F98FC29-B52D-4D06-9414-ECA5308D3AD8}"/>
              </a:ext>
            </a:extLst>
          </p:cNvPr>
          <p:cNvGraphicFramePr>
            <a:graphicFrameLocks noChangeAspect="1"/>
          </p:cNvGraphicFramePr>
          <p:nvPr userDrawn="1">
            <p:custDataLst>
              <p:tags r:id="rId14"/>
            </p:custDataLst>
            <p:extLst>
              <p:ext uri="{D42A27DB-BD31-4B8C-83A1-F6EECF244321}">
                <p14:modId xmlns:p14="http://schemas.microsoft.com/office/powerpoint/2010/main" val="2046435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294" name="think-cell Slide" r:id="rId16" imgW="383" imgH="384" progId="TCLayout.ActiveDocument.1">
                  <p:embed/>
                </p:oleObj>
              </mc:Choice>
              <mc:Fallback>
                <p:oleObj name="think-cell Slide" r:id="rId16" imgW="383" imgH="384" progId="TCLayout.ActiveDocument.1">
                  <p:embed/>
                  <p:pic>
                    <p:nvPicPr>
                      <p:cNvPr id="8" name="Object 7" hidden="1">
                        <a:extLst>
                          <a:ext uri="{FF2B5EF4-FFF2-40B4-BE49-F238E27FC236}">
                            <a16:creationId xmlns:a16="http://schemas.microsoft.com/office/drawing/2014/main" id="{4F98FC29-B52D-4D06-9414-ECA5308D3AD8}"/>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0B8DF5AC-BA80-4C36-9250-D0307192A235}"/>
              </a:ext>
            </a:extLst>
          </p:cNvPr>
          <p:cNvSpPr/>
          <p:nvPr userDrawn="1">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dirty="0">
              <a:latin typeface="Calibri Light" panose="020F0302020204030204" pitchFamily="34" charset="0"/>
              <a:ea typeface="+mj-ea"/>
              <a:cs typeface="+mj-cs"/>
              <a:sym typeface="Calibri Light" panose="020F0302020204030204" pitchFamily="34" charset="0"/>
            </a:endParaRPr>
          </a:p>
        </p:txBody>
      </p:sp>
      <p:sp>
        <p:nvSpPr>
          <p:cNvPr id="2" name="Title Placeholder 1">
            <a:extLst>
              <a:ext uri="{FF2B5EF4-FFF2-40B4-BE49-F238E27FC236}">
                <a16:creationId xmlns:a16="http://schemas.microsoft.com/office/drawing/2014/main" id="{43FE2463-D5B9-4CA1-99DF-99DC31AA5A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F83EC6-359C-4CF6-82FC-2ABB3CD76C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70CB8B-B537-4D43-B9FC-494AA284D3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12592B-1C1F-4013-81C9-7B01AC07925B}" type="datetimeFigureOut">
              <a:rPr lang="en-US" smtClean="0"/>
              <a:t>11/17/2025</a:t>
            </a:fld>
            <a:endParaRPr lang="en-US"/>
          </a:p>
        </p:txBody>
      </p:sp>
      <p:sp>
        <p:nvSpPr>
          <p:cNvPr id="5" name="Footer Placeholder 4">
            <a:extLst>
              <a:ext uri="{FF2B5EF4-FFF2-40B4-BE49-F238E27FC236}">
                <a16:creationId xmlns:a16="http://schemas.microsoft.com/office/drawing/2014/main" id="{B9CB8A0F-97FD-44C0-94EA-532E0B8DBA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4B9BEC-97C9-4100-8319-9B3257F649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93D874-5C84-4719-83B1-FE3512B1498D}" type="slidenum">
              <a:rPr lang="en-US" smtClean="0"/>
              <a:t>‹#›</a:t>
            </a:fld>
            <a:endParaRPr lang="en-US"/>
          </a:p>
        </p:txBody>
      </p:sp>
    </p:spTree>
    <p:extLst>
      <p:ext uri="{BB962C8B-B14F-4D97-AF65-F5344CB8AC3E}">
        <p14:creationId xmlns:p14="http://schemas.microsoft.com/office/powerpoint/2010/main" val="767188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slideLayout" Target="../slideLayouts/slideLayout1.xml"/><Relationship Id="rId7" Type="http://schemas.openxmlformats.org/officeDocument/2006/relationships/diagramData" Target="../diagrams/data1.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1.emf"/><Relationship Id="rId11" Type="http://schemas.microsoft.com/office/2007/relationships/diagramDrawing" Target="../diagrams/drawing1.xml"/><Relationship Id="rId5" Type="http://schemas.openxmlformats.org/officeDocument/2006/relationships/oleObject" Target="../embeddings/oleObject2.bin"/><Relationship Id="rId10" Type="http://schemas.openxmlformats.org/officeDocument/2006/relationships/diagramColors" Target="../diagrams/colors1.xml"/><Relationship Id="rId4" Type="http://schemas.openxmlformats.org/officeDocument/2006/relationships/notesSlide" Target="../notesSlides/notesSlide1.xml"/><Relationship Id="rId9"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9266E73A-0DE4-4047-96B7-DD1300AC4C96}"/>
              </a:ext>
            </a:extLst>
          </p:cNvPr>
          <p:cNvGraphicFramePr>
            <a:graphicFrameLocks noChangeAspect="1"/>
          </p:cNvGraphicFramePr>
          <p:nvPr>
            <p:custDataLst>
              <p:tags r:id="rId2"/>
            </p:custDataLst>
            <p:extLst>
              <p:ext uri="{D42A27DB-BD31-4B8C-83A1-F6EECF244321}">
                <p14:modId xmlns:p14="http://schemas.microsoft.com/office/powerpoint/2010/main" val="2240176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78" name="think-cell Slide" r:id="rId5" imgW="383" imgH="384" progId="TCLayout.ActiveDocument.1">
                  <p:embed/>
                </p:oleObj>
              </mc:Choice>
              <mc:Fallback>
                <p:oleObj name="think-cell Slide" r:id="rId5" imgW="383"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aphicFrame>
        <p:nvGraphicFramePr>
          <p:cNvPr id="9" name="Diagram 8">
            <a:extLst>
              <a:ext uri="{FF2B5EF4-FFF2-40B4-BE49-F238E27FC236}">
                <a16:creationId xmlns:a16="http://schemas.microsoft.com/office/drawing/2014/main" id="{94A4BF11-B663-4B0E-98A5-32E13511DF08}"/>
              </a:ext>
            </a:extLst>
          </p:cNvPr>
          <p:cNvGraphicFramePr/>
          <p:nvPr>
            <p:extLst>
              <p:ext uri="{D42A27DB-BD31-4B8C-83A1-F6EECF244321}">
                <p14:modId xmlns:p14="http://schemas.microsoft.com/office/powerpoint/2010/main" val="3442423916"/>
              </p:ext>
            </p:extLst>
          </p:nvPr>
        </p:nvGraphicFramePr>
        <p:xfrm>
          <a:off x="2336241" y="1107830"/>
          <a:ext cx="7229789" cy="232117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 name="Oval 3">
            <a:extLst>
              <a:ext uri="{FF2B5EF4-FFF2-40B4-BE49-F238E27FC236}">
                <a16:creationId xmlns:a16="http://schemas.microsoft.com/office/drawing/2014/main" id="{4F775470-3622-4E9E-9A4D-5F30C06FF42A}"/>
              </a:ext>
            </a:extLst>
          </p:cNvPr>
          <p:cNvSpPr/>
          <p:nvPr/>
        </p:nvSpPr>
        <p:spPr>
          <a:xfrm>
            <a:off x="43542" y="-667657"/>
            <a:ext cx="464457" cy="464457"/>
          </a:xfrm>
          <a:prstGeom prst="ellipse">
            <a:avLst/>
          </a:prstGeom>
          <a:solidFill>
            <a:srgbClr val="C8B2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ACBB0BD-876A-4E6B-8D32-FCF9FEA1DB75}"/>
              </a:ext>
            </a:extLst>
          </p:cNvPr>
          <p:cNvSpPr/>
          <p:nvPr/>
        </p:nvSpPr>
        <p:spPr>
          <a:xfrm>
            <a:off x="718457" y="-667657"/>
            <a:ext cx="464457" cy="464457"/>
          </a:xfrm>
          <a:prstGeom prst="ellipse">
            <a:avLst/>
          </a:prstGeom>
          <a:solidFill>
            <a:srgbClr val="DF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10B5483-7C24-4989-B304-DCF787978ACA}"/>
              </a:ext>
            </a:extLst>
          </p:cNvPr>
          <p:cNvSpPr/>
          <p:nvPr/>
        </p:nvSpPr>
        <p:spPr>
          <a:xfrm>
            <a:off x="1393371" y="-667657"/>
            <a:ext cx="464457" cy="4644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C52154-4B45-466D-A161-1643D2C05DF6}"/>
              </a:ext>
            </a:extLst>
          </p:cNvPr>
          <p:cNvSpPr txBox="1"/>
          <p:nvPr/>
        </p:nvSpPr>
        <p:spPr>
          <a:xfrm>
            <a:off x="2630659" y="4079631"/>
            <a:ext cx="7475123" cy="400110"/>
          </a:xfrm>
          <a:prstGeom prst="rect">
            <a:avLst/>
          </a:prstGeom>
          <a:noFill/>
        </p:spPr>
        <p:txBody>
          <a:bodyPr wrap="none" rtlCol="0">
            <a:spAutoFit/>
          </a:bodyPr>
          <a:lstStyle/>
          <a:p>
            <a:r>
              <a:rPr lang="en-US" sz="2000" dirty="0">
                <a:solidFill>
                  <a:schemeClr val="bg1"/>
                </a:solidFill>
                <a:latin typeface="Bahnschrift Light" panose="020B0502040204020203" pitchFamily="34" charset="0"/>
              </a:rPr>
              <a:t>Analyzing consumer behavior and trends from the 2024 dataset</a:t>
            </a:r>
            <a:endParaRPr lang="en-IN" sz="2000" dirty="0">
              <a:solidFill>
                <a:schemeClr val="bg1"/>
              </a:solidFill>
              <a:latin typeface="Bahnschrift Light" panose="020B0502040204020203" pitchFamily="34" charset="0"/>
            </a:endParaRPr>
          </a:p>
        </p:txBody>
      </p:sp>
    </p:spTree>
    <p:extLst>
      <p:ext uri="{BB962C8B-B14F-4D97-AF65-F5344CB8AC3E}">
        <p14:creationId xmlns:p14="http://schemas.microsoft.com/office/powerpoint/2010/main" val="1440600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Group 81">
            <a:extLst>
              <a:ext uri="{FF2B5EF4-FFF2-40B4-BE49-F238E27FC236}">
                <a16:creationId xmlns:a16="http://schemas.microsoft.com/office/drawing/2014/main" id="{714A87C3-3EFB-4722-BF0D-17138DEB6B2B}"/>
              </a:ext>
            </a:extLst>
          </p:cNvPr>
          <p:cNvGrpSpPr/>
          <p:nvPr/>
        </p:nvGrpSpPr>
        <p:grpSpPr>
          <a:xfrm>
            <a:off x="0" y="4954136"/>
            <a:ext cx="12192000" cy="1909138"/>
            <a:chOff x="0" y="4948862"/>
            <a:chExt cx="12192000" cy="1909138"/>
          </a:xfrm>
        </p:grpSpPr>
        <p:sp>
          <p:nvSpPr>
            <p:cNvPr id="83" name="Freeform: Shape 82">
              <a:extLst>
                <a:ext uri="{FF2B5EF4-FFF2-40B4-BE49-F238E27FC236}">
                  <a16:creationId xmlns:a16="http://schemas.microsoft.com/office/drawing/2014/main" id="{EC99197A-1F6B-4498-BD1A-1E735D7E4EB6}"/>
                </a:ext>
              </a:extLst>
            </p:cNvPr>
            <p:cNvSpPr/>
            <p:nvPr/>
          </p:nvSpPr>
          <p:spPr>
            <a:xfrm>
              <a:off x="0" y="4948862"/>
              <a:ext cx="12192000" cy="1909138"/>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F9C80C8E-5A49-482B-8FB1-2FEACFCA5ACA}"/>
                </a:ext>
              </a:extLst>
            </p:cNvPr>
            <p:cNvSpPr/>
            <p:nvPr/>
          </p:nvSpPr>
          <p:spPr>
            <a:xfrm>
              <a:off x="0" y="5563852"/>
              <a:ext cx="12192000" cy="1294147"/>
            </a:xfrm>
            <a:custGeom>
              <a:avLst/>
              <a:gdLst>
                <a:gd name="connsiteX0" fmla="*/ 0 w 12192000"/>
                <a:gd name="connsiteY0" fmla="*/ 0 h 1909138"/>
                <a:gd name="connsiteX1" fmla="*/ 227719 w 12192000"/>
                <a:gd name="connsiteY1" fmla="*/ 142350 h 1909138"/>
                <a:gd name="connsiteX2" fmla="*/ 6096001 w 12192000"/>
                <a:gd name="connsiteY2" fmla="*/ 1628919 h 1909138"/>
                <a:gd name="connsiteX3" fmla="*/ 11964283 w 12192000"/>
                <a:gd name="connsiteY3" fmla="*/ 142350 h 1909138"/>
                <a:gd name="connsiteX4" fmla="*/ 12192000 w 12192000"/>
                <a:gd name="connsiteY4" fmla="*/ 1 h 1909138"/>
                <a:gd name="connsiteX5" fmla="*/ 12192000 w 12192000"/>
                <a:gd name="connsiteY5" fmla="*/ 1909138 h 1909138"/>
                <a:gd name="connsiteX6" fmla="*/ 0 w 12192000"/>
                <a:gd name="connsiteY6" fmla="*/ 1909138 h 1909138"/>
                <a:gd name="connsiteX7" fmla="*/ 0 w 12192000"/>
                <a:gd name="connsiteY7" fmla="*/ 0 h 190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909138">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1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3" name="TextBox 22">
            <a:extLst>
              <a:ext uri="{FF2B5EF4-FFF2-40B4-BE49-F238E27FC236}">
                <a16:creationId xmlns:a16="http://schemas.microsoft.com/office/drawing/2014/main" id="{492CB66D-DB66-4E33-A440-FC9B08AF4B71}"/>
              </a:ext>
            </a:extLst>
          </p:cNvPr>
          <p:cNvSpPr txBox="1"/>
          <p:nvPr/>
        </p:nvSpPr>
        <p:spPr>
          <a:xfrm>
            <a:off x="820352" y="1314605"/>
            <a:ext cx="2973048" cy="2308324"/>
          </a:xfrm>
          <a:prstGeom prst="rect">
            <a:avLst/>
          </a:prstGeom>
          <a:noFill/>
        </p:spPr>
        <p:txBody>
          <a:bodyPr wrap="square" rtlCol="0">
            <a:spAutoFit/>
          </a:bodyPr>
          <a:lstStyle/>
          <a:p>
            <a:r>
              <a:rPr lang="en-US" sz="3600" dirty="0">
                <a:latin typeface="Britannic Bold" panose="020B0903060703020204" pitchFamily="34" charset="0"/>
              </a:rPr>
              <a:t>Introduction to the Global Superstore Dataset</a:t>
            </a:r>
            <a:endParaRPr lang="en-IN" sz="3600" dirty="0">
              <a:latin typeface="Britannic Bold" panose="020B0903060703020204" pitchFamily="34" charset="0"/>
            </a:endParaRPr>
          </a:p>
        </p:txBody>
      </p:sp>
      <p:sp>
        <p:nvSpPr>
          <p:cNvPr id="25" name="TextBox 24">
            <a:extLst>
              <a:ext uri="{FF2B5EF4-FFF2-40B4-BE49-F238E27FC236}">
                <a16:creationId xmlns:a16="http://schemas.microsoft.com/office/drawing/2014/main" id="{2298B686-BAD7-4C29-A955-9E401EE51629}"/>
              </a:ext>
            </a:extLst>
          </p:cNvPr>
          <p:cNvSpPr txBox="1"/>
          <p:nvPr/>
        </p:nvSpPr>
        <p:spPr>
          <a:xfrm>
            <a:off x="5256099" y="1314605"/>
            <a:ext cx="4629025" cy="3970318"/>
          </a:xfrm>
          <a:prstGeom prst="rect">
            <a:avLst/>
          </a:prstGeom>
          <a:noFill/>
        </p:spPr>
        <p:txBody>
          <a:bodyPr wrap="square" rtlCol="0">
            <a:spAutoFit/>
          </a:bodyPr>
          <a:lstStyle/>
          <a:p>
            <a:pPr marL="285750" indent="-285750">
              <a:buFont typeface="Wingdings" panose="05000000000000000000" pitchFamily="2" charset="2"/>
              <a:buChar char="q"/>
            </a:pPr>
            <a:r>
              <a:rPr lang="en-US" dirty="0">
                <a:latin typeface="Malgun Gothic" panose="020B0503020000020004" pitchFamily="34" charset="-127"/>
                <a:ea typeface="Malgun Gothic" panose="020B0503020000020004" pitchFamily="34" charset="-127"/>
              </a:rPr>
              <a:t>The dataset  offers a comprehensive view of retail performance across various regions and product categories.</a:t>
            </a:r>
          </a:p>
          <a:p>
            <a:pPr marL="285750" indent="-285750">
              <a:buFont typeface="Wingdings" panose="05000000000000000000" pitchFamily="2" charset="2"/>
              <a:buChar char="q"/>
            </a:pPr>
            <a:endParaRPr lang="en-US" dirty="0">
              <a:latin typeface="Malgun Gothic" panose="020B0503020000020004" pitchFamily="34" charset="-127"/>
              <a:ea typeface="Malgun Gothic" panose="020B0503020000020004" pitchFamily="34" charset="-127"/>
            </a:endParaRPr>
          </a:p>
          <a:p>
            <a:pPr marL="285750" indent="-285750">
              <a:buFont typeface="Wingdings" panose="05000000000000000000" pitchFamily="2" charset="2"/>
              <a:buChar char="q"/>
            </a:pPr>
            <a:r>
              <a:rPr lang="en-US" dirty="0">
                <a:latin typeface="Malgun Gothic" panose="020B0503020000020004" pitchFamily="34" charset="-127"/>
                <a:ea typeface="Malgun Gothic" panose="020B0503020000020004" pitchFamily="34" charset="-127"/>
              </a:rPr>
              <a:t> By analyzing this dataset, businesses can uncover consumer behavior patterns, identify trends, and make data-driven decisions</a:t>
            </a:r>
          </a:p>
          <a:p>
            <a:pPr marL="285750" indent="-285750">
              <a:buFont typeface="Wingdings" panose="05000000000000000000" pitchFamily="2" charset="2"/>
              <a:buChar char="q"/>
            </a:pPr>
            <a:endParaRPr lang="en-US" dirty="0">
              <a:latin typeface="Malgun Gothic" panose="020B0503020000020004" pitchFamily="34" charset="-127"/>
              <a:ea typeface="Malgun Gothic" panose="020B0503020000020004" pitchFamily="34" charset="-127"/>
            </a:endParaRPr>
          </a:p>
          <a:p>
            <a:pPr marL="285750" indent="-285750">
              <a:buFont typeface="Wingdings" panose="05000000000000000000" pitchFamily="2" charset="2"/>
              <a:buChar char="q"/>
            </a:pPr>
            <a:r>
              <a:rPr lang="en-US" dirty="0">
                <a:latin typeface="Malgun Gothic" panose="020B0503020000020004" pitchFamily="34" charset="-127"/>
                <a:ea typeface="Malgun Gothic" panose="020B0503020000020004" pitchFamily="34" charset="-127"/>
              </a:rPr>
              <a:t>It enhances sales and customer satisfaction from various geographic regions enabling a detailed analysis of regional performance across the Global Superstore network.</a:t>
            </a:r>
            <a:endParaRPr lang="en-IN" dirty="0">
              <a:latin typeface="Malgun Gothic" panose="020B0503020000020004" pitchFamily="34" charset="-127"/>
              <a:ea typeface="Malgun Gothic" panose="020B0503020000020004" pitchFamily="34" charset="-127"/>
            </a:endParaRPr>
          </a:p>
        </p:txBody>
      </p:sp>
    </p:spTree>
    <p:extLst>
      <p:ext uri="{BB962C8B-B14F-4D97-AF65-F5344CB8AC3E}">
        <p14:creationId xmlns:p14="http://schemas.microsoft.com/office/powerpoint/2010/main" val="285593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121">
            <a:extLst>
              <a:ext uri="{FF2B5EF4-FFF2-40B4-BE49-F238E27FC236}">
                <a16:creationId xmlns:a16="http://schemas.microsoft.com/office/drawing/2014/main" id="{26519E81-C48F-4DC1-8447-5AA3137BE5EE}"/>
              </a:ext>
            </a:extLst>
          </p:cNvPr>
          <p:cNvSpPr/>
          <p:nvPr/>
        </p:nvSpPr>
        <p:spPr>
          <a:xfrm>
            <a:off x="5766619" y="7440"/>
            <a:ext cx="6425381" cy="68505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27EA5C8A-162F-4A61-AD7C-CD2C60FDC0D2}"/>
              </a:ext>
            </a:extLst>
          </p:cNvPr>
          <p:cNvSpPr txBox="1"/>
          <p:nvPr/>
        </p:nvSpPr>
        <p:spPr>
          <a:xfrm>
            <a:off x="5163148" y="272690"/>
            <a:ext cx="6098458" cy="707886"/>
          </a:xfrm>
          <a:prstGeom prst="rect">
            <a:avLst/>
          </a:prstGeom>
          <a:noFill/>
        </p:spPr>
        <p:txBody>
          <a:bodyPr wrap="square">
            <a:spAutoFit/>
          </a:bodyPr>
          <a:lstStyle/>
          <a:p>
            <a:r>
              <a:rPr lang="en-IN" sz="4000" dirty="0">
                <a:solidFill>
                  <a:schemeClr val="accent5">
                    <a:lumMod val="50000"/>
                  </a:schemeClr>
                </a:solidFill>
                <a:latin typeface="Britannic Bold" panose="020B0903060703020204" pitchFamily="34" charset="0"/>
              </a:rPr>
              <a:t>KPI's</a:t>
            </a:r>
          </a:p>
        </p:txBody>
      </p:sp>
      <p:sp>
        <p:nvSpPr>
          <p:cNvPr id="5" name="TextBox 4">
            <a:extLst>
              <a:ext uri="{FF2B5EF4-FFF2-40B4-BE49-F238E27FC236}">
                <a16:creationId xmlns:a16="http://schemas.microsoft.com/office/drawing/2014/main" id="{903DE3A4-25EB-4729-8853-AB4C2A2BB3A6}"/>
              </a:ext>
            </a:extLst>
          </p:cNvPr>
          <p:cNvSpPr txBox="1"/>
          <p:nvPr/>
        </p:nvSpPr>
        <p:spPr>
          <a:xfrm>
            <a:off x="2560320" y="1080291"/>
            <a:ext cx="6625883" cy="646331"/>
          </a:xfrm>
          <a:prstGeom prst="rect">
            <a:avLst/>
          </a:prstGeom>
          <a:noFill/>
        </p:spPr>
        <p:txBody>
          <a:bodyPr wrap="square" rtlCol="0">
            <a:spAutoFit/>
          </a:bodyPr>
          <a:lstStyle/>
          <a:p>
            <a:r>
              <a:rPr lang="en-US" dirty="0">
                <a:solidFill>
                  <a:schemeClr val="accent5">
                    <a:lumMod val="75000"/>
                  </a:schemeClr>
                </a:solidFill>
                <a:latin typeface="+mj-lt"/>
              </a:rPr>
              <a:t>Key performance indicators for the Global Superstore dataset of 2024 show significant growth and customer satisfaction improvements.</a:t>
            </a:r>
            <a:endParaRPr lang="en-IN" dirty="0">
              <a:solidFill>
                <a:schemeClr val="accent5">
                  <a:lumMod val="75000"/>
                </a:schemeClr>
              </a:solidFill>
              <a:latin typeface="+mj-lt"/>
            </a:endParaRPr>
          </a:p>
        </p:txBody>
      </p:sp>
      <p:sp>
        <p:nvSpPr>
          <p:cNvPr id="10" name="TextBox 9">
            <a:extLst>
              <a:ext uri="{FF2B5EF4-FFF2-40B4-BE49-F238E27FC236}">
                <a16:creationId xmlns:a16="http://schemas.microsoft.com/office/drawing/2014/main" id="{507B2F9D-00BE-45B3-BC5D-FC8689C024FC}"/>
              </a:ext>
            </a:extLst>
          </p:cNvPr>
          <p:cNvSpPr txBox="1"/>
          <p:nvPr/>
        </p:nvSpPr>
        <p:spPr>
          <a:xfrm>
            <a:off x="3885363" y="4012164"/>
            <a:ext cx="1785056" cy="286232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rtlCol="0">
            <a:spAutoFit/>
          </a:bodyPr>
          <a:lstStyle/>
          <a:p>
            <a:r>
              <a:rPr lang="en-US" dirty="0"/>
              <a:t>   </a:t>
            </a:r>
          </a:p>
          <a:p>
            <a:r>
              <a:rPr lang="en-US" dirty="0">
                <a:solidFill>
                  <a:schemeClr val="accent1">
                    <a:lumMod val="50000"/>
                  </a:schemeClr>
                </a:solidFill>
                <a:latin typeface="Arial Rounded MT Bold" panose="020F0704030504030204" pitchFamily="34" charset="0"/>
              </a:rPr>
              <a:t>    Total profit</a:t>
            </a:r>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11" name="TextBox 10">
            <a:extLst>
              <a:ext uri="{FF2B5EF4-FFF2-40B4-BE49-F238E27FC236}">
                <a16:creationId xmlns:a16="http://schemas.microsoft.com/office/drawing/2014/main" id="{729D6D35-CE28-490D-9D18-9B58D62103B6}"/>
              </a:ext>
            </a:extLst>
          </p:cNvPr>
          <p:cNvSpPr txBox="1"/>
          <p:nvPr/>
        </p:nvSpPr>
        <p:spPr>
          <a:xfrm>
            <a:off x="6303562" y="3203652"/>
            <a:ext cx="1835825" cy="369331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rtlCol="0">
            <a:spAutoFit/>
          </a:bodyPr>
          <a:lstStyle/>
          <a:p>
            <a:endParaRPr lang="en-US" dirty="0">
              <a:latin typeface="Arial Rounded MT Bold" panose="020F0704030504030204" pitchFamily="34" charset="0"/>
            </a:endParaRPr>
          </a:p>
          <a:p>
            <a:r>
              <a:rPr lang="en-US" dirty="0">
                <a:solidFill>
                  <a:schemeClr val="accent1">
                    <a:lumMod val="50000"/>
                  </a:schemeClr>
                </a:solidFill>
                <a:latin typeface="Arial Rounded MT Bold" panose="020F0704030504030204" pitchFamily="34" charset="0"/>
              </a:rPr>
              <a:t>Average order    value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2" name="TextBox 11">
            <a:extLst>
              <a:ext uri="{FF2B5EF4-FFF2-40B4-BE49-F238E27FC236}">
                <a16:creationId xmlns:a16="http://schemas.microsoft.com/office/drawing/2014/main" id="{3CF3C411-D308-44FF-9F8F-4747AF1E5FDE}"/>
              </a:ext>
            </a:extLst>
          </p:cNvPr>
          <p:cNvSpPr txBox="1"/>
          <p:nvPr/>
        </p:nvSpPr>
        <p:spPr>
          <a:xfrm>
            <a:off x="9186203" y="3441680"/>
            <a:ext cx="1835825" cy="3416320"/>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txBody>
          <a:bodyPr wrap="square" rtlCol="0">
            <a:spAutoFit/>
          </a:bodyPr>
          <a:lstStyle/>
          <a:p>
            <a:endParaRPr lang="en-US" dirty="0">
              <a:latin typeface="Arial Rounded MT Bold" panose="020F0704030504030204" pitchFamily="34" charset="0"/>
            </a:endParaRPr>
          </a:p>
          <a:p>
            <a:r>
              <a:rPr lang="en-US" dirty="0">
                <a:solidFill>
                  <a:schemeClr val="accent1">
                    <a:lumMod val="50000"/>
                  </a:schemeClr>
                </a:solidFill>
                <a:latin typeface="Arial Rounded MT Bold" panose="020F0704030504030204" pitchFamily="34" charset="0"/>
              </a:rPr>
              <a:t>Customer satisfaction rate</a:t>
            </a:r>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18" name="TextBox 17">
            <a:extLst>
              <a:ext uri="{FF2B5EF4-FFF2-40B4-BE49-F238E27FC236}">
                <a16:creationId xmlns:a16="http://schemas.microsoft.com/office/drawing/2014/main" id="{359601C6-F06B-4C33-A050-B543C5420078}"/>
              </a:ext>
            </a:extLst>
          </p:cNvPr>
          <p:cNvSpPr txBox="1"/>
          <p:nvPr/>
        </p:nvSpPr>
        <p:spPr>
          <a:xfrm>
            <a:off x="1258881" y="3207400"/>
            <a:ext cx="1862110" cy="369331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rtlCol="0">
            <a:spAutoFit/>
          </a:bodyPr>
          <a:lstStyle/>
          <a:p>
            <a:endParaRPr lang="en-US" dirty="0"/>
          </a:p>
          <a:p>
            <a:r>
              <a:rPr lang="en-US" dirty="0">
                <a:solidFill>
                  <a:schemeClr val="accent1">
                    <a:lumMod val="50000"/>
                  </a:schemeClr>
                </a:solidFill>
                <a:latin typeface="Arial Rounded MT Bold" panose="020F0704030504030204" pitchFamily="34" charset="0"/>
              </a:rPr>
              <a:t>     Total sales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932092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4D3EC">
            <a:alpha val="40000"/>
          </a:srgb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F52453-889A-426B-92EC-47D710024C54}"/>
              </a:ext>
            </a:extLst>
          </p:cNvPr>
          <p:cNvPicPr>
            <a:picLocks noChangeAspect="1"/>
          </p:cNvPicPr>
          <p:nvPr/>
        </p:nvPicPr>
        <p:blipFill rotWithShape="1">
          <a:blip r:embed="rId3">
            <a:alphaModFix amt="92000"/>
            <a:extLst>
              <a:ext uri="{BEBA8EAE-BF5A-486C-A8C5-ECC9F3942E4B}">
                <a14:imgProps xmlns:a14="http://schemas.microsoft.com/office/drawing/2010/main">
                  <a14:imgLayer r:embed="rId4">
                    <a14:imgEffect>
                      <a14:sharpenSoften amount="21000"/>
                    </a14:imgEffect>
                    <a14:imgEffect>
                      <a14:brightnessContrast bright="6000"/>
                    </a14:imgEffect>
                  </a14:imgLayer>
                </a14:imgProps>
              </a:ext>
              <a:ext uri="{28A0092B-C50C-407E-A947-70E740481C1C}">
                <a14:useLocalDpi xmlns:a14="http://schemas.microsoft.com/office/drawing/2010/main" val="0"/>
              </a:ext>
            </a:extLst>
          </a:blip>
          <a:srcRect t="10861" r="3133" b="11705"/>
          <a:stretch/>
        </p:blipFill>
        <p:spPr>
          <a:xfrm>
            <a:off x="5051684" y="3266181"/>
            <a:ext cx="6820523" cy="3046751"/>
          </a:xfrm>
          <a:prstGeom prst="rect">
            <a:avLst/>
          </a:prstGeom>
          <a:solidFill>
            <a:srgbClr val="00B0F0"/>
          </a:solidFill>
          <a:effectLst/>
        </p:spPr>
      </p:pic>
      <p:sp>
        <p:nvSpPr>
          <p:cNvPr id="9" name="Rectangle: Rounded Corners 8">
            <a:extLst>
              <a:ext uri="{FF2B5EF4-FFF2-40B4-BE49-F238E27FC236}">
                <a16:creationId xmlns:a16="http://schemas.microsoft.com/office/drawing/2014/main" id="{25734667-A5BB-4FB7-9B0F-A8A7D2CF7459}"/>
              </a:ext>
            </a:extLst>
          </p:cNvPr>
          <p:cNvSpPr/>
          <p:nvPr/>
        </p:nvSpPr>
        <p:spPr>
          <a:xfrm>
            <a:off x="974361" y="382249"/>
            <a:ext cx="3342804" cy="2518348"/>
          </a:xfrm>
          <a:prstGeom prst="roundRect">
            <a:avLst/>
          </a:prstGeom>
          <a:gradFill flip="none" rotWithShape="1">
            <a:gsLst>
              <a:gs pos="60149">
                <a:srgbClr val="BDCEEA"/>
              </a:gs>
              <a:gs pos="74000">
                <a:schemeClr val="accent1">
                  <a:lumMod val="45000"/>
                  <a:lumOff val="55000"/>
                </a:schemeClr>
              </a:gs>
              <a:gs pos="83000">
                <a:schemeClr val="accent1">
                  <a:lumMod val="45000"/>
                  <a:lumOff val="55000"/>
                </a:schemeClr>
              </a:gs>
              <a:gs pos="7000">
                <a:srgbClr val="DFDDDD"/>
              </a:gs>
              <a:gs pos="23219">
                <a:srgbClr val="EBF1F9"/>
              </a:gs>
              <a:gs pos="19902">
                <a:srgbClr val="EDF2F9"/>
              </a:gs>
              <a:gs pos="13268">
                <a:srgbClr val="F0F4FA"/>
              </a:gs>
              <a:gs pos="0">
                <a:schemeClr val="accent1">
                  <a:lumMod val="5000"/>
                  <a:lumOff val="95000"/>
                </a:schemeClr>
              </a:gs>
              <a:gs pos="26536">
                <a:srgbClr val="E9EFF8"/>
              </a:gs>
              <a:gs pos="100000">
                <a:schemeClr val="accent1">
                  <a:lumMod val="30000"/>
                  <a:lumOff val="7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accent1">
                    <a:lumMod val="75000"/>
                  </a:schemeClr>
                </a:solidFill>
              </a:rPr>
              <a:t>The dataset comprises comprehensive sales records from various geographic regions, enabling a detailed analysis of regional performance across the Global Superstore network.</a:t>
            </a:r>
            <a:endParaRPr lang="en-IN" sz="1400" dirty="0">
              <a:solidFill>
                <a:schemeClr val="accent1">
                  <a:lumMod val="75000"/>
                </a:schemeClr>
              </a:solidFill>
            </a:endParaRPr>
          </a:p>
        </p:txBody>
      </p:sp>
      <p:sp>
        <p:nvSpPr>
          <p:cNvPr id="11" name="Rectangle: Rounded Corners 10">
            <a:extLst>
              <a:ext uri="{FF2B5EF4-FFF2-40B4-BE49-F238E27FC236}">
                <a16:creationId xmlns:a16="http://schemas.microsoft.com/office/drawing/2014/main" id="{C8966BB5-E621-4F64-AE74-B67D3BCE1E1D}"/>
              </a:ext>
            </a:extLst>
          </p:cNvPr>
          <p:cNvSpPr/>
          <p:nvPr/>
        </p:nvSpPr>
        <p:spPr>
          <a:xfrm>
            <a:off x="5051684" y="290433"/>
            <a:ext cx="3207895" cy="2460261"/>
          </a:xfrm>
          <a:prstGeom prst="roundRect">
            <a:avLst/>
          </a:prstGeom>
          <a:gradFill>
            <a:gsLst>
              <a:gs pos="60149">
                <a:srgbClr val="BDCEEA"/>
              </a:gs>
              <a:gs pos="74000">
                <a:schemeClr val="accent1">
                  <a:lumMod val="45000"/>
                  <a:lumOff val="55000"/>
                </a:schemeClr>
              </a:gs>
              <a:gs pos="83000">
                <a:schemeClr val="accent1">
                  <a:lumMod val="45000"/>
                  <a:lumOff val="55000"/>
                </a:schemeClr>
              </a:gs>
              <a:gs pos="7000">
                <a:srgbClr val="DFDDDD"/>
              </a:gs>
              <a:gs pos="23219">
                <a:srgbClr val="EBF1F9"/>
              </a:gs>
              <a:gs pos="19902">
                <a:srgbClr val="EDF2F9"/>
              </a:gs>
              <a:gs pos="13268">
                <a:srgbClr val="F0F4FA"/>
              </a:gs>
              <a:gs pos="0">
                <a:schemeClr val="accent1">
                  <a:lumMod val="5000"/>
                  <a:lumOff val="95000"/>
                </a:schemeClr>
              </a:gs>
              <a:gs pos="26536">
                <a:srgbClr val="E9EFF8"/>
              </a:gs>
              <a:gs pos="100000">
                <a:schemeClr val="accent1">
                  <a:lumMod val="30000"/>
                  <a:lumOff val="70000"/>
                </a:schemeClr>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Rounded Corners 11">
            <a:extLst>
              <a:ext uri="{FF2B5EF4-FFF2-40B4-BE49-F238E27FC236}">
                <a16:creationId xmlns:a16="http://schemas.microsoft.com/office/drawing/2014/main" id="{BFA0CD25-71FC-4DD9-9647-30C1E4D9DCB3}"/>
              </a:ext>
            </a:extLst>
          </p:cNvPr>
          <p:cNvSpPr/>
          <p:nvPr/>
        </p:nvSpPr>
        <p:spPr>
          <a:xfrm>
            <a:off x="8754256" y="314793"/>
            <a:ext cx="3087974" cy="2518348"/>
          </a:xfrm>
          <a:prstGeom prst="roundRect">
            <a:avLst/>
          </a:prstGeom>
          <a:gradFill>
            <a:gsLst>
              <a:gs pos="60149">
                <a:srgbClr val="BDCEEA"/>
              </a:gs>
              <a:gs pos="74000">
                <a:schemeClr val="accent1">
                  <a:lumMod val="45000"/>
                  <a:lumOff val="55000"/>
                </a:schemeClr>
              </a:gs>
              <a:gs pos="83000">
                <a:schemeClr val="accent1">
                  <a:lumMod val="45000"/>
                  <a:lumOff val="55000"/>
                </a:schemeClr>
              </a:gs>
              <a:gs pos="7000">
                <a:srgbClr val="DFDDDD"/>
              </a:gs>
              <a:gs pos="23219">
                <a:srgbClr val="EBF1F9"/>
              </a:gs>
              <a:gs pos="19902">
                <a:srgbClr val="EDF2F9"/>
              </a:gs>
              <a:gs pos="13268">
                <a:srgbClr val="F0F4FA"/>
              </a:gs>
              <a:gs pos="0">
                <a:schemeClr val="accent1">
                  <a:lumMod val="5000"/>
                  <a:lumOff val="95000"/>
                </a:schemeClr>
              </a:gs>
              <a:gs pos="26536">
                <a:srgbClr val="E9EFF8"/>
              </a:gs>
              <a:gs pos="100000">
                <a:schemeClr val="accent1">
                  <a:lumMod val="30000"/>
                  <a:lumOff val="70000"/>
                </a:schemeClr>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CC6A96F-A962-4DE1-BF51-8D57B2B6C86A}"/>
              </a:ext>
            </a:extLst>
          </p:cNvPr>
          <p:cNvSpPr txBox="1"/>
          <p:nvPr/>
        </p:nvSpPr>
        <p:spPr>
          <a:xfrm>
            <a:off x="974361" y="621056"/>
            <a:ext cx="3342804" cy="369332"/>
          </a:xfrm>
          <a:prstGeom prst="rect">
            <a:avLst/>
          </a:prstGeom>
          <a:noFill/>
        </p:spPr>
        <p:txBody>
          <a:bodyPr wrap="square" rtlCol="0">
            <a:spAutoFit/>
          </a:bodyPr>
          <a:lstStyle/>
          <a:p>
            <a:r>
              <a:rPr lang="en-US" b="1" dirty="0">
                <a:solidFill>
                  <a:schemeClr val="accent5">
                    <a:lumMod val="50000"/>
                  </a:schemeClr>
                </a:solidFill>
              </a:rPr>
              <a:t>Sales Data from Multiple Regions</a:t>
            </a:r>
            <a:endParaRPr lang="en-IN" b="1" dirty="0">
              <a:solidFill>
                <a:schemeClr val="accent5">
                  <a:lumMod val="50000"/>
                </a:schemeClr>
              </a:solidFill>
            </a:endParaRPr>
          </a:p>
        </p:txBody>
      </p:sp>
      <p:sp>
        <p:nvSpPr>
          <p:cNvPr id="16" name="TextBox 15">
            <a:extLst>
              <a:ext uri="{FF2B5EF4-FFF2-40B4-BE49-F238E27FC236}">
                <a16:creationId xmlns:a16="http://schemas.microsoft.com/office/drawing/2014/main" id="{C32AF80A-110D-443E-9FF3-A77B330185F5}"/>
              </a:ext>
            </a:extLst>
          </p:cNvPr>
          <p:cNvSpPr txBox="1"/>
          <p:nvPr/>
        </p:nvSpPr>
        <p:spPr>
          <a:xfrm>
            <a:off x="5358983" y="545068"/>
            <a:ext cx="2638269" cy="338554"/>
          </a:xfrm>
          <a:prstGeom prst="rect">
            <a:avLst/>
          </a:prstGeom>
          <a:noFill/>
        </p:spPr>
        <p:txBody>
          <a:bodyPr wrap="square" rtlCol="0">
            <a:spAutoFit/>
          </a:bodyPr>
          <a:lstStyle/>
          <a:p>
            <a:r>
              <a:rPr lang="en-IN" sz="1600" b="1" dirty="0">
                <a:solidFill>
                  <a:schemeClr val="accent1">
                    <a:lumMod val="50000"/>
                  </a:schemeClr>
                </a:solidFill>
              </a:rPr>
              <a:t>Diverse Product Categories</a:t>
            </a:r>
          </a:p>
        </p:txBody>
      </p:sp>
      <p:sp>
        <p:nvSpPr>
          <p:cNvPr id="17" name="TextBox 16">
            <a:extLst>
              <a:ext uri="{FF2B5EF4-FFF2-40B4-BE49-F238E27FC236}">
                <a16:creationId xmlns:a16="http://schemas.microsoft.com/office/drawing/2014/main" id="{A1B433AF-2A85-4C2E-901F-1121E6417225}"/>
              </a:ext>
            </a:extLst>
          </p:cNvPr>
          <p:cNvSpPr txBox="1"/>
          <p:nvPr/>
        </p:nvSpPr>
        <p:spPr>
          <a:xfrm>
            <a:off x="5194092" y="914400"/>
            <a:ext cx="2803160" cy="1384995"/>
          </a:xfrm>
          <a:prstGeom prst="rect">
            <a:avLst/>
          </a:prstGeom>
          <a:noFill/>
        </p:spPr>
        <p:txBody>
          <a:bodyPr wrap="square" rtlCol="0">
            <a:spAutoFit/>
          </a:bodyPr>
          <a:lstStyle/>
          <a:p>
            <a:pPr algn="ctr"/>
            <a:r>
              <a:rPr lang="en-US" sz="1400" dirty="0">
                <a:solidFill>
                  <a:schemeClr val="accent1">
                    <a:lumMod val="75000"/>
                  </a:schemeClr>
                </a:solidFill>
              </a:rPr>
              <a:t>Product categories span a diverse range, including electronics, furniture, office supplies, and more, allowing for insights into consumer preferences and purchasing patterns.</a:t>
            </a:r>
            <a:endParaRPr lang="en-IN" sz="1400" dirty="0">
              <a:solidFill>
                <a:schemeClr val="accent1">
                  <a:lumMod val="75000"/>
                </a:schemeClr>
              </a:solidFill>
            </a:endParaRPr>
          </a:p>
        </p:txBody>
      </p:sp>
      <p:sp>
        <p:nvSpPr>
          <p:cNvPr id="18" name="TextBox 17">
            <a:extLst>
              <a:ext uri="{FF2B5EF4-FFF2-40B4-BE49-F238E27FC236}">
                <a16:creationId xmlns:a16="http://schemas.microsoft.com/office/drawing/2014/main" id="{24E7335C-01A3-4087-B012-626054F64BB7}"/>
              </a:ext>
            </a:extLst>
          </p:cNvPr>
          <p:cNvSpPr txBox="1"/>
          <p:nvPr/>
        </p:nvSpPr>
        <p:spPr>
          <a:xfrm>
            <a:off x="9188969" y="615634"/>
            <a:ext cx="2533338" cy="369332"/>
          </a:xfrm>
          <a:prstGeom prst="rect">
            <a:avLst/>
          </a:prstGeom>
          <a:noFill/>
        </p:spPr>
        <p:txBody>
          <a:bodyPr wrap="square" rtlCol="0">
            <a:spAutoFit/>
          </a:bodyPr>
          <a:lstStyle/>
          <a:p>
            <a:r>
              <a:rPr lang="en-IN" b="1" dirty="0">
                <a:solidFill>
                  <a:schemeClr val="tx2">
                    <a:lumMod val="50000"/>
                  </a:schemeClr>
                </a:solidFill>
              </a:rPr>
              <a:t> Performance Metrics</a:t>
            </a:r>
          </a:p>
        </p:txBody>
      </p:sp>
      <p:sp>
        <p:nvSpPr>
          <p:cNvPr id="19" name="TextBox 18">
            <a:extLst>
              <a:ext uri="{FF2B5EF4-FFF2-40B4-BE49-F238E27FC236}">
                <a16:creationId xmlns:a16="http://schemas.microsoft.com/office/drawing/2014/main" id="{0611F56A-9CB8-4B18-9FC8-20ECAFDB5D02}"/>
              </a:ext>
            </a:extLst>
          </p:cNvPr>
          <p:cNvSpPr txBox="1"/>
          <p:nvPr/>
        </p:nvSpPr>
        <p:spPr>
          <a:xfrm>
            <a:off x="9031574" y="984966"/>
            <a:ext cx="2533338" cy="1600438"/>
          </a:xfrm>
          <a:prstGeom prst="rect">
            <a:avLst/>
          </a:prstGeom>
          <a:noFill/>
        </p:spPr>
        <p:txBody>
          <a:bodyPr wrap="square" rtlCol="0">
            <a:spAutoFit/>
          </a:bodyPr>
          <a:lstStyle/>
          <a:p>
            <a:pPr algn="ctr"/>
            <a:r>
              <a:rPr lang="en-US" sz="1400" dirty="0">
                <a:solidFill>
                  <a:schemeClr val="accent1">
                    <a:lumMod val="75000"/>
                  </a:schemeClr>
                </a:solidFill>
              </a:rPr>
              <a:t>Key performance metrics such as total sales, profit margins, and quantities sold are included, providing a robust framework for evaluating business performance and strategic planning.</a:t>
            </a:r>
            <a:endParaRPr lang="en-IN" sz="1400" dirty="0">
              <a:solidFill>
                <a:schemeClr val="accent1">
                  <a:lumMod val="75000"/>
                </a:schemeClr>
              </a:solidFill>
            </a:endParaRPr>
          </a:p>
        </p:txBody>
      </p:sp>
      <p:sp>
        <p:nvSpPr>
          <p:cNvPr id="24" name="Arrow: Pentagon 23">
            <a:extLst>
              <a:ext uri="{FF2B5EF4-FFF2-40B4-BE49-F238E27FC236}">
                <a16:creationId xmlns:a16="http://schemas.microsoft.com/office/drawing/2014/main" id="{D5E0BBD1-D682-431E-80BC-58A0B15D6FC5}"/>
              </a:ext>
            </a:extLst>
          </p:cNvPr>
          <p:cNvSpPr/>
          <p:nvPr/>
        </p:nvSpPr>
        <p:spPr>
          <a:xfrm>
            <a:off x="-1" y="3785215"/>
            <a:ext cx="4886793" cy="200868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Britannic Bold" panose="020B0903060703020204" pitchFamily="34" charset="0"/>
              </a:rPr>
              <a:t>Overview of Dataset</a:t>
            </a:r>
            <a:endParaRPr lang="en-IN" sz="4000" dirty="0">
              <a:latin typeface="Britannic Bold" panose="020B0903060703020204" pitchFamily="34" charset="0"/>
            </a:endParaRPr>
          </a:p>
        </p:txBody>
      </p:sp>
    </p:spTree>
    <p:extLst>
      <p:ext uri="{BB962C8B-B14F-4D97-AF65-F5344CB8AC3E}">
        <p14:creationId xmlns:p14="http://schemas.microsoft.com/office/powerpoint/2010/main" val="377815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3094">
              <a:srgbClr val="C6D4ED">
                <a:alpha val="21000"/>
              </a:srgbClr>
            </a:gs>
            <a:gs pos="10000">
              <a:srgbClr val="D3DEF1">
                <a:alpha val="9000"/>
              </a:srgbClr>
            </a:gs>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3800000" scaled="0"/>
        </a:gradFill>
        <a:effectLst/>
      </p:bgPr>
    </p:bg>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D1EEDDC-F807-4906-8749-40B777D610A9}"/>
              </a:ext>
            </a:extLst>
          </p:cNvPr>
          <p:cNvGraphicFramePr>
            <a:graphicFrameLocks noGrp="1"/>
          </p:cNvGraphicFramePr>
          <p:nvPr>
            <p:extLst>
              <p:ext uri="{D42A27DB-BD31-4B8C-83A1-F6EECF244321}">
                <p14:modId xmlns:p14="http://schemas.microsoft.com/office/powerpoint/2010/main" val="782415477"/>
              </p:ext>
            </p:extLst>
          </p:nvPr>
        </p:nvGraphicFramePr>
        <p:xfrm>
          <a:off x="2100189" y="1251331"/>
          <a:ext cx="7540053" cy="5156961"/>
        </p:xfrm>
        <a:graphic>
          <a:graphicData uri="http://schemas.openxmlformats.org/drawingml/2006/table">
            <a:tbl>
              <a:tblPr firstRow="1" firstCol="1" bandRow="1">
                <a:tableStyleId>{5C22544A-7EE6-4342-B048-85BDC9FD1C3A}</a:tableStyleId>
              </a:tblPr>
              <a:tblGrid>
                <a:gridCol w="2513351">
                  <a:extLst>
                    <a:ext uri="{9D8B030D-6E8A-4147-A177-3AD203B41FA5}">
                      <a16:colId xmlns:a16="http://schemas.microsoft.com/office/drawing/2014/main" val="471541666"/>
                    </a:ext>
                  </a:extLst>
                </a:gridCol>
                <a:gridCol w="2513351">
                  <a:extLst>
                    <a:ext uri="{9D8B030D-6E8A-4147-A177-3AD203B41FA5}">
                      <a16:colId xmlns:a16="http://schemas.microsoft.com/office/drawing/2014/main" val="2553230902"/>
                    </a:ext>
                  </a:extLst>
                </a:gridCol>
                <a:gridCol w="2513351">
                  <a:extLst>
                    <a:ext uri="{9D8B030D-6E8A-4147-A177-3AD203B41FA5}">
                      <a16:colId xmlns:a16="http://schemas.microsoft.com/office/drawing/2014/main" val="711423962"/>
                    </a:ext>
                  </a:extLst>
                </a:gridCol>
              </a:tblGrid>
              <a:tr h="508968">
                <a:tc>
                  <a:txBody>
                    <a:bodyPr/>
                    <a:lstStyle/>
                    <a:p>
                      <a:pPr>
                        <a:lnSpc>
                          <a:spcPct val="115000"/>
                        </a:lnSpc>
                        <a:spcAft>
                          <a:spcPts val="1000"/>
                        </a:spcAft>
                      </a:pPr>
                      <a:r>
                        <a:rPr lang="en-US" sz="1800" b="1" dirty="0">
                          <a:solidFill>
                            <a:schemeClr val="bg1"/>
                          </a:solidFill>
                          <a:effectLst/>
                          <a:latin typeface="Times New Roman" panose="02020603050405020304" pitchFamily="18" charset="0"/>
                          <a:cs typeface="Times New Roman" panose="02020603050405020304" pitchFamily="18" charset="0"/>
                        </a:rPr>
                        <a:t>Column Name</a:t>
                      </a:r>
                      <a:endParaRPr lang="en-IN" sz="1800" b="1" dirty="0">
                        <a:solidFill>
                          <a:schemeClr val="bg1"/>
                        </a:solidFill>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800" b="1" dirty="0">
                          <a:effectLst/>
                          <a:latin typeface="Times New Roman" panose="02020603050405020304" pitchFamily="18" charset="0"/>
                          <a:cs typeface="Times New Roman" panose="02020603050405020304" pitchFamily="18" charset="0"/>
                        </a:rPr>
                        <a:t>Data Type</a:t>
                      </a:r>
                      <a:endParaRPr lang="en-IN" sz="1800" b="1"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800" b="0" dirty="0">
                          <a:effectLst/>
                          <a:latin typeface="Times New Roman" panose="02020603050405020304" pitchFamily="18" charset="0"/>
                          <a:cs typeface="Times New Roman" panose="02020603050405020304" pitchFamily="18" charset="0"/>
                        </a:rPr>
                        <a:t>Description</a:t>
                      </a:r>
                      <a:endParaRPr lang="en-IN" sz="1800" b="0" dirty="0">
                        <a:effectLst/>
                        <a:latin typeface="Times New Roman" panose="020206030504050203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57444665"/>
                  </a:ext>
                </a:extLst>
              </a:tr>
              <a:tr h="578599">
                <a:tc>
                  <a:txBody>
                    <a:bodyPr/>
                    <a:lstStyle/>
                    <a:p>
                      <a:pPr>
                        <a:lnSpc>
                          <a:spcPct val="115000"/>
                        </a:lnSpc>
                        <a:spcAft>
                          <a:spcPts val="1000"/>
                        </a:spcAft>
                      </a:pPr>
                      <a:r>
                        <a:rPr lang="en-US" sz="1100" dirty="0">
                          <a:effectLst/>
                        </a:rPr>
                        <a:t>Order ID</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dirty="0">
                          <a:effectLst/>
                        </a:rPr>
                        <a:t>Text</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Unique identifier assigned to each customer order.</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64633663"/>
                  </a:ext>
                </a:extLst>
              </a:tr>
              <a:tr h="578599">
                <a:tc>
                  <a:txBody>
                    <a:bodyPr/>
                    <a:lstStyle/>
                    <a:p>
                      <a:pPr>
                        <a:lnSpc>
                          <a:spcPct val="115000"/>
                        </a:lnSpc>
                        <a:spcAft>
                          <a:spcPts val="1000"/>
                        </a:spcAft>
                      </a:pPr>
                      <a:r>
                        <a:rPr lang="en-US" sz="1100" dirty="0">
                          <a:effectLst/>
                        </a:rPr>
                        <a:t>Order Date</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dirty="0">
                          <a:effectLst/>
                        </a:rPr>
                        <a:t>Date</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The date when the order was placed.</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51900814"/>
                  </a:ext>
                </a:extLst>
              </a:tr>
              <a:tr h="578599">
                <a:tc>
                  <a:txBody>
                    <a:bodyPr/>
                    <a:lstStyle/>
                    <a:p>
                      <a:pPr>
                        <a:lnSpc>
                          <a:spcPct val="115000"/>
                        </a:lnSpc>
                        <a:spcAft>
                          <a:spcPts val="1000"/>
                        </a:spcAft>
                      </a:pPr>
                      <a:r>
                        <a:rPr lang="en-US" sz="1100">
                          <a:effectLst/>
                        </a:rPr>
                        <a:t>Customer Name</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Text</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Full name of the customer who placed the order.</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05342847"/>
                  </a:ext>
                </a:extLst>
              </a:tr>
              <a:tr h="578599">
                <a:tc>
                  <a:txBody>
                    <a:bodyPr/>
                    <a:lstStyle/>
                    <a:p>
                      <a:pPr>
                        <a:lnSpc>
                          <a:spcPct val="115000"/>
                        </a:lnSpc>
                        <a:spcAft>
                          <a:spcPts val="1000"/>
                        </a:spcAft>
                      </a:pPr>
                      <a:r>
                        <a:rPr lang="en-US" sz="1100" dirty="0">
                          <a:effectLst/>
                        </a:rPr>
                        <a:t>Region</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Text</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Geographical region where the order was delivered.</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97229152"/>
                  </a:ext>
                </a:extLst>
              </a:tr>
              <a:tr h="877499">
                <a:tc>
                  <a:txBody>
                    <a:bodyPr/>
                    <a:lstStyle/>
                    <a:p>
                      <a:pPr>
                        <a:lnSpc>
                          <a:spcPct val="115000"/>
                        </a:lnSpc>
                        <a:spcAft>
                          <a:spcPts val="1000"/>
                        </a:spcAft>
                      </a:pPr>
                      <a:r>
                        <a:rPr lang="en-US" sz="1100">
                          <a:effectLst/>
                        </a:rPr>
                        <a:t>Category</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Text</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Main category of the product (e.g., Furniture, Office Supplies).</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71007379"/>
                  </a:ext>
                </a:extLst>
              </a:tr>
              <a:tr h="578599">
                <a:tc>
                  <a:txBody>
                    <a:bodyPr/>
                    <a:lstStyle/>
                    <a:p>
                      <a:pPr>
                        <a:lnSpc>
                          <a:spcPct val="115000"/>
                        </a:lnSpc>
                        <a:spcAft>
                          <a:spcPts val="1000"/>
                        </a:spcAft>
                      </a:pPr>
                      <a:r>
                        <a:rPr lang="en-US" sz="1100">
                          <a:effectLst/>
                        </a:rPr>
                        <a:t>Sales</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Decimal</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Total sales amount generated from the product (in USD).</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822262105"/>
                  </a:ext>
                </a:extLst>
              </a:tr>
              <a:tr h="877499">
                <a:tc>
                  <a:txBody>
                    <a:bodyPr/>
                    <a:lstStyle/>
                    <a:p>
                      <a:pPr>
                        <a:lnSpc>
                          <a:spcPct val="115000"/>
                        </a:lnSpc>
                        <a:spcAft>
                          <a:spcPts val="1000"/>
                        </a:spcAft>
                      </a:pPr>
                      <a:r>
                        <a:rPr lang="en-US" sz="1100">
                          <a:effectLst/>
                        </a:rPr>
                        <a:t>Profit</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a:effectLst/>
                        </a:rPr>
                        <a:t>Decimal</a:t>
                      </a:r>
                      <a:endParaRPr lang="en-IN" sz="110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tc>
                  <a:txBody>
                    <a:bodyPr/>
                    <a:lstStyle/>
                    <a:p>
                      <a:pPr>
                        <a:lnSpc>
                          <a:spcPct val="115000"/>
                        </a:lnSpc>
                        <a:spcAft>
                          <a:spcPts val="1000"/>
                        </a:spcAft>
                      </a:pPr>
                      <a:r>
                        <a:rPr lang="en-US" sz="1100" dirty="0">
                          <a:effectLst/>
                        </a:rPr>
                        <a:t>Profit earned from the sale after deducting costs and discounts.</a:t>
                      </a:r>
                      <a:endParaRPr lang="en-IN" sz="1100" dirty="0">
                        <a:effectLst/>
                        <a:latin typeface="Cambria" panose="02040503050406030204" pitchFamily="18" charset="0"/>
                        <a:ea typeface="MS Mincho" panose="020B0400000000000000"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02738273"/>
                  </a:ext>
                </a:extLst>
              </a:tr>
            </a:tbl>
          </a:graphicData>
        </a:graphic>
      </p:graphicFrame>
      <p:sp>
        <p:nvSpPr>
          <p:cNvPr id="3" name="TextBox 2">
            <a:extLst>
              <a:ext uri="{FF2B5EF4-FFF2-40B4-BE49-F238E27FC236}">
                <a16:creationId xmlns:a16="http://schemas.microsoft.com/office/drawing/2014/main" id="{285A0D5D-15D4-44C3-858D-97798F819C66}"/>
              </a:ext>
            </a:extLst>
          </p:cNvPr>
          <p:cNvSpPr txBox="1"/>
          <p:nvPr/>
        </p:nvSpPr>
        <p:spPr>
          <a:xfrm>
            <a:off x="3780654" y="209862"/>
            <a:ext cx="4179124" cy="646331"/>
          </a:xfrm>
          <a:prstGeom prst="rect">
            <a:avLst/>
          </a:prstGeom>
          <a:noFill/>
        </p:spPr>
        <p:txBody>
          <a:bodyPr wrap="square" rtlCol="0">
            <a:spAutoFit/>
          </a:bodyPr>
          <a:lstStyle/>
          <a:p>
            <a:r>
              <a:rPr lang="en-US" sz="3600" b="1" dirty="0">
                <a:solidFill>
                  <a:schemeClr val="accent1">
                    <a:lumMod val="75000"/>
                  </a:schemeClr>
                </a:solidFill>
                <a:latin typeface="Britannic Bold" panose="020B0903060703020204" pitchFamily="34" charset="0"/>
              </a:rPr>
              <a:t>Data Dictionary</a:t>
            </a:r>
            <a:endParaRPr lang="en-IN" sz="3600" b="1" dirty="0">
              <a:solidFill>
                <a:schemeClr val="accent1">
                  <a:lumMod val="75000"/>
                </a:schemeClr>
              </a:solidFill>
              <a:latin typeface="Britannic Bold" panose="020B0903060703020204" pitchFamily="34" charset="0"/>
            </a:endParaRPr>
          </a:p>
        </p:txBody>
      </p:sp>
    </p:spTree>
    <p:extLst>
      <p:ext uri="{BB962C8B-B14F-4D97-AF65-F5344CB8AC3E}">
        <p14:creationId xmlns:p14="http://schemas.microsoft.com/office/powerpoint/2010/main" val="4269303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72575">
              <a:srgbClr val="ADC1E5"/>
            </a:gs>
            <a:gs pos="46000">
              <a:srgbClr val="C6D4ED">
                <a:alpha val="21000"/>
              </a:srgbClr>
            </a:gs>
            <a:gs pos="10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3800000" scaled="0"/>
        </a:gra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E6B7846-AFC6-47A7-86BB-86C2F3F0C418}"/>
              </a:ext>
            </a:extLst>
          </p:cNvPr>
          <p:cNvSpPr txBox="1"/>
          <p:nvPr/>
        </p:nvSpPr>
        <p:spPr>
          <a:xfrm>
            <a:off x="562130" y="704538"/>
            <a:ext cx="6430781" cy="1200329"/>
          </a:xfrm>
          <a:prstGeom prst="rect">
            <a:avLst/>
          </a:prstGeom>
          <a:noFill/>
        </p:spPr>
        <p:txBody>
          <a:bodyPr wrap="square" rtlCol="0">
            <a:spAutoFit/>
          </a:bodyPr>
          <a:lstStyle/>
          <a:p>
            <a:r>
              <a:rPr lang="en-US" sz="3600" dirty="0">
                <a:latin typeface="Britannic Bold" panose="020B0903060703020204" pitchFamily="34" charset="0"/>
              </a:rPr>
              <a:t>Conclusions and recommendations</a:t>
            </a:r>
            <a:endParaRPr lang="en-IN" sz="3600" dirty="0">
              <a:latin typeface="Britannic Bold" panose="020B0903060703020204" pitchFamily="34" charset="0"/>
            </a:endParaRPr>
          </a:p>
        </p:txBody>
      </p:sp>
      <p:sp>
        <p:nvSpPr>
          <p:cNvPr id="9" name="TextBox 8">
            <a:extLst>
              <a:ext uri="{FF2B5EF4-FFF2-40B4-BE49-F238E27FC236}">
                <a16:creationId xmlns:a16="http://schemas.microsoft.com/office/drawing/2014/main" id="{A554BAA1-DEA5-418D-A17B-1E29C6D065C2}"/>
              </a:ext>
            </a:extLst>
          </p:cNvPr>
          <p:cNvSpPr txBox="1"/>
          <p:nvPr/>
        </p:nvSpPr>
        <p:spPr>
          <a:xfrm>
            <a:off x="562130" y="2894219"/>
            <a:ext cx="5156617" cy="2800767"/>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analysis of the Global Superstore dataset of 2024 reveals significant opportunities for enhancing sales and boosting customer satisfaction. Key findings emphasize the need for targeted marketing strategies, improved inventory management, and enhanced customer engagement practices.</a:t>
            </a:r>
          </a:p>
          <a:p>
            <a:endParaRPr lang="en-US" sz="3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0A6107A-A5A0-4C97-9B31-C61875CA8896}"/>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6745572" y="0"/>
            <a:ext cx="5446428" cy="6858000"/>
          </a:xfrm>
          <a:prstGeom prst="rect">
            <a:avLst/>
          </a:prstGeom>
          <a:effectLst/>
        </p:spPr>
      </p:pic>
    </p:spTree>
    <p:extLst>
      <p:ext uri="{BB962C8B-B14F-4D97-AF65-F5344CB8AC3E}">
        <p14:creationId xmlns:p14="http://schemas.microsoft.com/office/powerpoint/2010/main" val="7702527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6FJKJ8Ki46KTJlqyNR.K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1885</TotalTime>
  <Words>357</Words>
  <Application>Microsoft Office PowerPoint</Application>
  <PresentationFormat>Widescreen</PresentationFormat>
  <Paragraphs>86</Paragraphs>
  <Slides>6</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18" baseType="lpstr">
      <vt:lpstr>Malgun Gothic</vt:lpstr>
      <vt:lpstr>Arial</vt:lpstr>
      <vt:lpstr>Arial Rounded MT Bold</vt:lpstr>
      <vt:lpstr>Bahnschrift Light</vt:lpstr>
      <vt:lpstr>Britannic Bold</vt:lpstr>
      <vt:lpstr>Calibri</vt:lpstr>
      <vt:lpstr>Calibri Light</vt:lpstr>
      <vt:lpstr>Cambria</vt:lpstr>
      <vt:lpstr>Times New Roman</vt:lpstr>
      <vt:lpstr>Wingdings</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it 24slides3</dc:creator>
  <cp:lastModifiedBy>22tq1a0554@siddhartha.co.in</cp:lastModifiedBy>
  <cp:revision>54</cp:revision>
  <dcterms:created xsi:type="dcterms:W3CDTF">2020-11-25T08:17:13Z</dcterms:created>
  <dcterms:modified xsi:type="dcterms:W3CDTF">2025-11-17T14:02:45Z</dcterms:modified>
</cp:coreProperties>
</file>